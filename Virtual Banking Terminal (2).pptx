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DM Sans" pitchFamily="2" charset="0"/>
      <p:regular r:id="rId14"/>
    </p:embeddedFont>
    <p:embeddedFont>
      <p:font typeface="DM Sans Bold" panose="020B0604020202020204" charset="0"/>
      <p:regular r:id="rId15"/>
    </p:embeddedFont>
    <p:embeddedFont>
      <p:font typeface="Montserra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0" y="0"/>
            <a:ext cx="8382000" cy="10287000"/>
          </a:xfrm>
          <a:custGeom>
            <a:avLst/>
            <a:gdLst/>
            <a:ahLst/>
            <a:cxnLst/>
            <a:rect l="l" t="t" r="r" b="b"/>
            <a:pathLst>
              <a:path w="8382000" h="10287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5" b="-65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8572500" y="0"/>
            <a:ext cx="4953000" cy="10287000"/>
            <a:chOff x="0" y="0"/>
            <a:chExt cx="660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0" cy="13716000"/>
            </a:xfrm>
            <a:custGeom>
              <a:avLst/>
              <a:gdLst/>
              <a:ahLst/>
              <a:cxnLst/>
              <a:rect l="l" t="t" r="r" b="b"/>
              <a:pathLst>
                <a:path w="6604000" h="13716000">
                  <a:moveTo>
                    <a:pt x="0" y="0"/>
                  </a:moveTo>
                  <a:lnTo>
                    <a:pt x="6604000" y="0"/>
                  </a:lnTo>
                  <a:lnTo>
                    <a:pt x="660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81B2C">
                    <a:alpha val="100000"/>
                  </a:srgbClr>
                </a:gs>
                <a:gs pos="100000">
                  <a:srgbClr val="081B2C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2500" y="1914525"/>
            <a:ext cx="10001250" cy="2161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7"/>
              </a:lnSpc>
            </a:pPr>
            <a:r>
              <a:rPr lang="en-US" sz="79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BANKING</a:t>
            </a:r>
          </a:p>
          <a:p>
            <a:pPr algn="l">
              <a:lnSpc>
                <a:spcPts val="8347"/>
              </a:lnSpc>
            </a:pPr>
            <a:r>
              <a:rPr lang="en-US" sz="79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TERMINAL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2500" y="4162425"/>
            <a:ext cx="74295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rPr>
              <a:t>A Java-Based ATM Simulation System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2500" y="5095875"/>
            <a:ext cx="1143000" cy="47625"/>
            <a:chOff x="0" y="0"/>
            <a:chExt cx="1524000" cy="63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000" cy="63500"/>
            </a:xfrm>
            <a:custGeom>
              <a:avLst/>
              <a:gdLst/>
              <a:ahLst/>
              <a:cxnLst/>
              <a:rect l="l" t="t" r="r" b="b"/>
              <a:pathLst>
                <a:path w="1524000" h="63500">
                  <a:moveTo>
                    <a:pt x="0" y="0"/>
                  </a:moveTo>
                  <a:lnTo>
                    <a:pt x="1524000" y="0"/>
                  </a:lnTo>
                  <a:lnTo>
                    <a:pt x="152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C7A35A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24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2500" y="6029325"/>
            <a:ext cx="7620000" cy="146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TEAM NUMBER  —  </a:t>
            </a: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lang="en-US" sz="1800" dirty="0">
              <a:solidFill>
                <a:srgbClr val="DCE5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800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STUDENT NAMES &amp; ROLL NUMBERS  —  </a:t>
            </a: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1. 2620030124 Mokshit</a:t>
            </a:r>
            <a:b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                  2. 2620030110 </a:t>
            </a:r>
            <a:r>
              <a:rPr lang="en-US" dirty="0" err="1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Vaideesh</a:t>
            </a:r>
            <a:b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                  3. 2620030606 Veda Chandra </a:t>
            </a:r>
            <a:endParaRPr lang="en-US" sz="1800" dirty="0">
              <a:solidFill>
                <a:srgbClr val="DCE5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1800" dirty="0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FACULTY NAME  —  </a:t>
            </a:r>
            <a:r>
              <a:rPr lang="en-US" dirty="0" err="1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Dr.Rajesh</a:t>
            </a:r>
            <a:endParaRPr lang="en-US" sz="1800" dirty="0">
              <a:solidFill>
                <a:srgbClr val="DCE5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2500" y="8724900"/>
            <a:ext cx="47625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 dirty="0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16 OCTOBER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0" y="2857500"/>
            <a:ext cx="2667000" cy="1000125"/>
            <a:chOff x="0" y="0"/>
            <a:chExt cx="3556000" cy="133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3619500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" name="Group 6"/>
          <p:cNvGrpSpPr/>
          <p:nvPr/>
        </p:nvGrpSpPr>
        <p:grpSpPr>
          <a:xfrm>
            <a:off x="4143375" y="2857500"/>
            <a:ext cx="2667000" cy="1000125"/>
            <a:chOff x="0" y="0"/>
            <a:chExt cx="3556000" cy="1333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PIN / ACCOUNT-ID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VERIFICATION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810375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7334250" y="2857500"/>
            <a:ext cx="2667000" cy="1000125"/>
            <a:chOff x="0" y="0"/>
            <a:chExt cx="3556000" cy="1333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081B2C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BANKING MENU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0001250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10525125" y="2857500"/>
            <a:ext cx="2667000" cy="1000125"/>
            <a:chOff x="0" y="0"/>
            <a:chExt cx="3556000" cy="1333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TRANSACTION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PROCESSING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3192125" y="3352800"/>
            <a:ext cx="3810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13716000" y="2857500"/>
            <a:ext cx="2667000" cy="1000125"/>
            <a:chOff x="0" y="0"/>
            <a:chExt cx="3556000" cy="1333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56000" cy="1333500"/>
            </a:xfrm>
            <a:custGeom>
              <a:avLst/>
              <a:gdLst/>
              <a:ahLst/>
              <a:cxnLst/>
              <a:rect l="l" t="t" r="r" b="b"/>
              <a:pathLst>
                <a:path w="3556000" h="13335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279071"/>
                  </a:lnTo>
                  <a:cubicBezTo>
                    <a:pt x="3556000" y="1309132"/>
                    <a:pt x="3531631" y="1333500"/>
                    <a:pt x="3501572" y="1333500"/>
                  </a:cubicBezTo>
                  <a:lnTo>
                    <a:pt x="54429" y="1333500"/>
                  </a:lnTo>
                  <a:cubicBezTo>
                    <a:pt x="24369" y="1333500"/>
                    <a:pt x="0" y="1309132"/>
                    <a:pt x="0" y="12790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3556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BALANCE UPDATE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52500" y="762000"/>
            <a:ext cx="857250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0250" y="819150"/>
            <a:ext cx="7239000" cy="9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One console-based system integrates authentication, transactions, persistence and analytical processing into a coherent learning model.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5095875"/>
            <a:ext cx="4762500" cy="1619250"/>
            <a:chOff x="0" y="0"/>
            <a:chExt cx="6350000" cy="2159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3E8F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81000" y="107950"/>
              <a:ext cx="5969000" cy="1206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3-attempt PIN authentication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Balance, deposits &amp; withdrawals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Four-note denomination logic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72250" y="5095875"/>
            <a:ext cx="4762500" cy="1619250"/>
            <a:chOff x="0" y="0"/>
            <a:chExt cx="6350000" cy="2159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C7A3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81000" y="107950"/>
              <a:ext cx="5969000" cy="1206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Runtime transaction history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Recursive future balance estimate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accounts.txt persistence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92000" y="5095875"/>
            <a:ext cx="4762500" cy="1619250"/>
            <a:chOff x="0" y="0"/>
            <a:chExt cx="6350000" cy="2159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01600" cy="2159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21590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3E8F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81000" y="107950"/>
              <a:ext cx="596900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Invalid-input &amp; funds exceptions</a:t>
              </a:r>
            </a:p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Collections and stream processing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95325"/>
            <a:ext cx="10953750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SIX PRACTICAL PROBLEMS.</a:t>
            </a:r>
          </a:p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INTEGRATED SYSTEM.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2295525"/>
            <a:ext cx="61912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0750" y="2295525"/>
            <a:ext cx="619125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79">
                <a:solidFill>
                  <a:srgbClr val="3E8F8B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8858250" y="2238375"/>
            <a:ext cx="0" cy="7000875"/>
          </a:xfrm>
          <a:prstGeom prst="line">
            <a:avLst/>
          </a:prstGeom>
          <a:ln w="19050" cap="flat">
            <a:solidFill>
              <a:srgbClr val="C7A35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52500" y="2809875"/>
            <a:ext cx="7048500" cy="723900"/>
            <a:chOff x="0" y="0"/>
            <a:chExt cx="9398000" cy="9652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1  Safe ATM learning environment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20250" y="2809875"/>
            <a:ext cx="7143750" cy="723900"/>
            <a:chOff x="0" y="0"/>
            <a:chExt cx="9525000" cy="9652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Guided console simulation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2500" y="3810000"/>
            <a:ext cx="7048500" cy="723900"/>
            <a:chOff x="0" y="0"/>
            <a:chExt cx="9398000" cy="9652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2  Accurate balances &amp; funds checks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20250" y="3810000"/>
            <a:ext cx="7143750" cy="723900"/>
            <a:chOff x="0" y="0"/>
            <a:chExt cx="9525000" cy="9652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Arithmetic + custom exceptions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4810125"/>
            <a:ext cx="7048500" cy="723900"/>
            <a:chOff x="0" y="0"/>
            <a:chExt cx="9398000" cy="9652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3  Systematic withdrawal notes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20250" y="4810125"/>
            <a:ext cx="7143750" cy="723900"/>
            <a:chOff x="0" y="0"/>
            <a:chExt cx="9525000" cy="9652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Four-denomination breakdown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2500" y="5810250"/>
            <a:ext cx="7048500" cy="723900"/>
            <a:chOff x="0" y="0"/>
            <a:chExt cx="9398000" cy="9652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4  Organized transaction records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620250" y="5810250"/>
            <a:ext cx="7143750" cy="723900"/>
            <a:chOff x="0" y="0"/>
            <a:chExt cx="9525000" cy="9652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In-memory ArrayList history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2500" y="6810375"/>
            <a:ext cx="7048500" cy="723900"/>
            <a:chOff x="0" y="0"/>
            <a:chExt cx="9398000" cy="965200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5  Persistent balances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620250" y="6810375"/>
            <a:ext cx="7143750" cy="723900"/>
            <a:chOff x="0" y="0"/>
            <a:chExt cx="9525000" cy="9652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accounts.txt read / write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7810500"/>
            <a:ext cx="7048500" cy="723900"/>
            <a:chOff x="0" y="0"/>
            <a:chExt cx="9398000" cy="965200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0"/>
              <a:ext cx="9398000" cy="965200"/>
              <a:chOff x="0" y="0"/>
              <a:chExt cx="9398000" cy="9652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9398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9652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9398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6  Reliable input &amp; error handling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620250" y="7810500"/>
            <a:ext cx="7143750" cy="723900"/>
            <a:chOff x="0" y="0"/>
            <a:chExt cx="9525000" cy="965200"/>
          </a:xfrm>
        </p:grpSpPr>
        <p:grpSp>
          <p:nvGrpSpPr>
            <p:cNvPr id="62" name="Group 62"/>
            <p:cNvGrpSpPr/>
            <p:nvPr/>
          </p:nvGrpSpPr>
          <p:grpSpPr>
            <a:xfrm>
              <a:off x="0" y="0"/>
              <a:ext cx="9525000" cy="965200"/>
              <a:chOff x="0" y="0"/>
              <a:chExt cx="9525000" cy="96520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9525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65200">
                    <a:moveTo>
                      <a:pt x="0" y="0"/>
                    </a:moveTo>
                    <a:lnTo>
                      <a:pt x="9525000" y="0"/>
                    </a:lnTo>
                    <a:lnTo>
                      <a:pt x="9525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38100"/>
                <a:ext cx="9525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254000" y="171450"/>
              <a:ext cx="8890000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Trimmed input + exception management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95325"/>
            <a:ext cx="9525000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CO1  /  THINK IN SYSTEMS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381250"/>
            <a:ext cx="3429000" cy="3333750"/>
            <a:chOff x="0" y="0"/>
            <a:chExt cx="4572000" cy="4445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72000" cy="4445000"/>
            </a:xfrm>
            <a:custGeom>
              <a:avLst/>
              <a:gdLst/>
              <a:ahLst/>
              <a:cxnLst/>
              <a:rect l="l" t="t" r="r" b="b"/>
              <a:pathLst>
                <a:path w="4572000" h="4445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4402667"/>
                  </a:lnTo>
                  <a:cubicBezTo>
                    <a:pt x="4572000" y="4413894"/>
                    <a:pt x="4567540" y="4424662"/>
                    <a:pt x="4559601" y="4432601"/>
                  </a:cubicBezTo>
                  <a:cubicBezTo>
                    <a:pt x="4551662" y="4440540"/>
                    <a:pt x="4540894" y="4445000"/>
                    <a:pt x="4529667" y="4445000"/>
                  </a:cubicBezTo>
                  <a:lnTo>
                    <a:pt x="42333" y="4445000"/>
                  </a:lnTo>
                  <a:cubicBezTo>
                    <a:pt x="31106" y="4445000"/>
                    <a:pt x="20338" y="4440540"/>
                    <a:pt x="12399" y="4432601"/>
                  </a:cubicBezTo>
                  <a:cubicBezTo>
                    <a:pt x="4460" y="4424662"/>
                    <a:pt x="0" y="4413894"/>
                    <a:pt x="0" y="440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72000" cy="442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19750" y="2381250"/>
            <a:ext cx="3905250" cy="3333750"/>
            <a:chOff x="0" y="0"/>
            <a:chExt cx="5207000" cy="444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07000" cy="4445000"/>
            </a:xfrm>
            <a:custGeom>
              <a:avLst/>
              <a:gdLst/>
              <a:ahLst/>
              <a:cxnLst/>
              <a:rect l="l" t="t" r="r" b="b"/>
              <a:pathLst>
                <a:path w="5207000" h="4445000">
                  <a:moveTo>
                    <a:pt x="37171" y="0"/>
                  </a:moveTo>
                  <a:lnTo>
                    <a:pt x="5169829" y="0"/>
                  </a:lnTo>
                  <a:cubicBezTo>
                    <a:pt x="5190358" y="0"/>
                    <a:pt x="5207000" y="16642"/>
                    <a:pt x="5207000" y="37171"/>
                  </a:cubicBezTo>
                  <a:lnTo>
                    <a:pt x="5207000" y="4407829"/>
                  </a:lnTo>
                  <a:cubicBezTo>
                    <a:pt x="5207000" y="4428358"/>
                    <a:pt x="5190358" y="4445000"/>
                    <a:pt x="5169829" y="4445000"/>
                  </a:cubicBezTo>
                  <a:lnTo>
                    <a:pt x="37171" y="4445000"/>
                  </a:lnTo>
                  <a:cubicBezTo>
                    <a:pt x="16642" y="4445000"/>
                    <a:pt x="0" y="4428358"/>
                    <a:pt x="0" y="4407829"/>
                  </a:cubicBezTo>
                  <a:lnTo>
                    <a:pt x="0" y="37171"/>
                  </a:lnTo>
                  <a:cubicBezTo>
                    <a:pt x="0" y="16642"/>
                    <a:pt x="16642" y="0"/>
                    <a:pt x="3717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5207000" cy="442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82250" y="2381250"/>
            <a:ext cx="3905250" cy="3333750"/>
            <a:chOff x="0" y="0"/>
            <a:chExt cx="5207000" cy="444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07000" cy="4445000"/>
            </a:xfrm>
            <a:custGeom>
              <a:avLst/>
              <a:gdLst/>
              <a:ahLst/>
              <a:cxnLst/>
              <a:rect l="l" t="t" r="r" b="b"/>
              <a:pathLst>
                <a:path w="5207000" h="4445000">
                  <a:moveTo>
                    <a:pt x="37171" y="0"/>
                  </a:moveTo>
                  <a:lnTo>
                    <a:pt x="5169829" y="0"/>
                  </a:lnTo>
                  <a:cubicBezTo>
                    <a:pt x="5190358" y="0"/>
                    <a:pt x="5207000" y="16642"/>
                    <a:pt x="5207000" y="37171"/>
                  </a:cubicBezTo>
                  <a:lnTo>
                    <a:pt x="5207000" y="4407829"/>
                  </a:lnTo>
                  <a:cubicBezTo>
                    <a:pt x="5207000" y="4428358"/>
                    <a:pt x="5190358" y="4445000"/>
                    <a:pt x="5169829" y="4445000"/>
                  </a:cubicBezTo>
                  <a:lnTo>
                    <a:pt x="37171" y="4445000"/>
                  </a:lnTo>
                  <a:cubicBezTo>
                    <a:pt x="16642" y="4445000"/>
                    <a:pt x="0" y="4428358"/>
                    <a:pt x="0" y="4407829"/>
                  </a:cubicBezTo>
                  <a:lnTo>
                    <a:pt x="0" y="37171"/>
                  </a:lnTo>
                  <a:cubicBezTo>
                    <a:pt x="0" y="16642"/>
                    <a:pt x="16642" y="0"/>
                    <a:pt x="3717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5207000" cy="442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4381500" y="4048125"/>
            <a:ext cx="104775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>
            <a:off x="9525000" y="4048125"/>
            <a:ext cx="66675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" name="Group 14"/>
          <p:cNvGrpSpPr/>
          <p:nvPr/>
        </p:nvGrpSpPr>
        <p:grpSpPr>
          <a:xfrm>
            <a:off x="14097000" y="1952625"/>
            <a:ext cx="3238500" cy="4095750"/>
            <a:chOff x="0" y="0"/>
            <a:chExt cx="4318000" cy="5461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18000" cy="5461000"/>
            </a:xfrm>
            <a:custGeom>
              <a:avLst/>
              <a:gdLst/>
              <a:ahLst/>
              <a:cxnLst/>
              <a:rect l="l" t="t" r="r" b="b"/>
              <a:pathLst>
                <a:path w="4318000" h="5461000">
                  <a:moveTo>
                    <a:pt x="0" y="0"/>
                  </a:moveTo>
                  <a:lnTo>
                    <a:pt x="4318000" y="0"/>
                  </a:lnTo>
                  <a:lnTo>
                    <a:pt x="4318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3180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90625" y="2628900"/>
            <a:ext cx="2476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INPUT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57875" y="2628900"/>
            <a:ext cx="2857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PROCESS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20375" y="2628900"/>
            <a:ext cx="28575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OUTPUT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0625" y="3181350"/>
            <a:ext cx="295275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Account ID · PIN · menu choice · amount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57875" y="3181350"/>
            <a:ext cx="3429000" cy="9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Authenticate · update balance · record transaction · estimate future value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20375" y="3181350"/>
            <a:ext cx="3333750" cy="9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Messages · balances · statements · denomination breakdown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82750" y="2133600"/>
            <a:ext cx="2714625" cy="90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ACCOUNT 101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ASHA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₹5,000</a:t>
            </a:r>
          </a:p>
          <a:p>
            <a:pPr algn="l">
              <a:lnSpc>
                <a:spcPts val="1852"/>
              </a:lnSpc>
            </a:pPr>
            <a:r>
              <a:rPr lang="en-US" sz="14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PIN protected · ArrayList history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7115175"/>
            <a:ext cx="1524000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Variables and constructors model state; [500, 200, 100, 50] models cash. Decomposition separates authentication, deposit, withdrawal, statement, persistence and future value into manageable responsibilities.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00075"/>
            <a:ext cx="114300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CO2  /  CONTROL THE SESSION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001500" y="1552575"/>
            <a:ext cx="5143500" cy="166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Three failed credential attempts end the session with a blocked-card message. Valid access opens a six-option menu; invalid selections are handled, and the loop continues until Exit saves accounts.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429000" y="1524000"/>
            <a:ext cx="4095750" cy="685800"/>
            <a:chOff x="0" y="0"/>
            <a:chExt cx="5461000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START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5476875" y="22098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" name="Group 8"/>
          <p:cNvGrpSpPr/>
          <p:nvPr/>
        </p:nvGrpSpPr>
        <p:grpSpPr>
          <a:xfrm>
            <a:off x="3429000" y="2571750"/>
            <a:ext cx="4095750" cy="685800"/>
            <a:chOff x="0" y="0"/>
            <a:chExt cx="54610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LOAD ACCOUNTS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5476875" y="325755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3429000" y="3619500"/>
            <a:ext cx="4095750" cy="685800"/>
            <a:chOff x="0" y="0"/>
            <a:chExt cx="54610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ENTER ID + PIN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5476875" y="43053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3429000" y="4667250"/>
            <a:ext cx="4095750" cy="685800"/>
            <a:chOff x="0" y="0"/>
            <a:chExt cx="546100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VERIFY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5476875" y="535305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0" name="Group 20"/>
          <p:cNvGrpSpPr/>
          <p:nvPr/>
        </p:nvGrpSpPr>
        <p:grpSpPr>
          <a:xfrm>
            <a:off x="3429000" y="5715000"/>
            <a:ext cx="4095750" cy="685800"/>
            <a:chOff x="0" y="0"/>
            <a:chExt cx="546100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BANKING MENU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 OPTIONS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5476875" y="64008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3429000" y="6762750"/>
            <a:ext cx="4095750" cy="685800"/>
            <a:chOff x="0" y="0"/>
            <a:chExt cx="54610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EXECUTE OPERATION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5476875" y="744855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3429000" y="7810500"/>
            <a:ext cx="4095750" cy="685800"/>
            <a:chOff x="0" y="0"/>
            <a:chExt cx="546100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EXIT?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5476875" y="8496300"/>
            <a:ext cx="0" cy="28575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3429000" y="8858250"/>
            <a:ext cx="4095750" cy="685800"/>
            <a:chOff x="0" y="0"/>
            <a:chExt cx="54610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61000" cy="914400"/>
            </a:xfrm>
            <a:custGeom>
              <a:avLst/>
              <a:gdLst/>
              <a:ahLst/>
              <a:cxnLst/>
              <a:rect l="l" t="t" r="r" b="b"/>
              <a:pathLst>
                <a:path w="5461000" h="914400">
                  <a:moveTo>
                    <a:pt x="35442" y="0"/>
                  </a:moveTo>
                  <a:lnTo>
                    <a:pt x="5425558" y="0"/>
                  </a:lnTo>
                  <a:cubicBezTo>
                    <a:pt x="5434958" y="0"/>
                    <a:pt x="5443973" y="3734"/>
                    <a:pt x="5450619" y="10381"/>
                  </a:cubicBezTo>
                  <a:cubicBezTo>
                    <a:pt x="5457266" y="17027"/>
                    <a:pt x="5461000" y="26042"/>
                    <a:pt x="5461000" y="35442"/>
                  </a:cubicBezTo>
                  <a:lnTo>
                    <a:pt x="5461000" y="878958"/>
                  </a:lnTo>
                  <a:cubicBezTo>
                    <a:pt x="5461000" y="888358"/>
                    <a:pt x="5457266" y="897373"/>
                    <a:pt x="5450619" y="904019"/>
                  </a:cubicBezTo>
                  <a:cubicBezTo>
                    <a:pt x="5443973" y="910666"/>
                    <a:pt x="5434958" y="914400"/>
                    <a:pt x="5425558" y="914400"/>
                  </a:cubicBezTo>
                  <a:lnTo>
                    <a:pt x="35442" y="914400"/>
                  </a:lnTo>
                  <a:cubicBezTo>
                    <a:pt x="26042" y="914400"/>
                    <a:pt x="17027" y="910666"/>
                    <a:pt x="10381" y="904019"/>
                  </a:cubicBezTo>
                  <a:cubicBezTo>
                    <a:pt x="3734" y="897373"/>
                    <a:pt x="0" y="888358"/>
                    <a:pt x="0" y="878958"/>
                  </a:cubicBezTo>
                  <a:lnTo>
                    <a:pt x="0" y="35442"/>
                  </a:lnTo>
                  <a:cubicBezTo>
                    <a:pt x="0" y="26042"/>
                    <a:pt x="3734" y="17027"/>
                    <a:pt x="10381" y="10381"/>
                  </a:cubicBezTo>
                  <a:cubicBezTo>
                    <a:pt x="17027" y="3734"/>
                    <a:pt x="26042" y="0"/>
                    <a:pt x="35442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5461000" cy="895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SAVE + END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0" y="4238625"/>
            <a:ext cx="2857500" cy="1000125"/>
            <a:chOff x="0" y="0"/>
            <a:chExt cx="3810000" cy="1333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282700"/>
                  </a:lnTo>
                  <a:cubicBezTo>
                    <a:pt x="3810000" y="1310756"/>
                    <a:pt x="3787256" y="1333500"/>
                    <a:pt x="3759200" y="1333500"/>
                  </a:cubicBezTo>
                  <a:lnTo>
                    <a:pt x="50800" y="1333500"/>
                  </a:lnTo>
                  <a:cubicBezTo>
                    <a:pt x="22744" y="1333500"/>
                    <a:pt x="0" y="1310756"/>
                    <a:pt x="0" y="1282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26333B"/>
            </a:solidFill>
            <a:ln w="19050" cap="sq">
              <a:solidFill>
                <a:srgbClr val="A94C4C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19050"/>
              <a:ext cx="3810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INCORRECT?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RETRY ≤ 3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flipV="1">
            <a:off x="7524750" y="4762500"/>
            <a:ext cx="952500" cy="247650"/>
          </a:xfrm>
          <a:prstGeom prst="line">
            <a:avLst/>
          </a:prstGeom>
          <a:ln w="38100" cap="rnd">
            <a:solidFill>
              <a:srgbClr val="A94C4C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9" name="Group 39"/>
          <p:cNvGrpSpPr/>
          <p:nvPr/>
        </p:nvGrpSpPr>
        <p:grpSpPr>
          <a:xfrm>
            <a:off x="12573000" y="4238625"/>
            <a:ext cx="3333750" cy="1000125"/>
            <a:chOff x="0" y="0"/>
            <a:chExt cx="4445000" cy="1333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45000" cy="1333500"/>
            </a:xfrm>
            <a:custGeom>
              <a:avLst/>
              <a:gdLst/>
              <a:ahLst/>
              <a:cxnLst/>
              <a:rect l="l" t="t" r="r" b="b"/>
              <a:pathLst>
                <a:path w="4445000" h="1333500">
                  <a:moveTo>
                    <a:pt x="43543" y="0"/>
                  </a:moveTo>
                  <a:lnTo>
                    <a:pt x="4401457" y="0"/>
                  </a:lnTo>
                  <a:cubicBezTo>
                    <a:pt x="4425505" y="0"/>
                    <a:pt x="4445000" y="19495"/>
                    <a:pt x="4445000" y="43543"/>
                  </a:cubicBezTo>
                  <a:lnTo>
                    <a:pt x="4445000" y="1289957"/>
                  </a:lnTo>
                  <a:cubicBezTo>
                    <a:pt x="4445000" y="1314005"/>
                    <a:pt x="4425505" y="1333500"/>
                    <a:pt x="4401457" y="1333500"/>
                  </a:cubicBezTo>
                  <a:lnTo>
                    <a:pt x="43543" y="1333500"/>
                  </a:lnTo>
                  <a:cubicBezTo>
                    <a:pt x="19495" y="1333500"/>
                    <a:pt x="0" y="1314005"/>
                    <a:pt x="0" y="1289957"/>
                  </a:cubicBezTo>
                  <a:lnTo>
                    <a:pt x="0" y="43543"/>
                  </a:lnTo>
                  <a:cubicBezTo>
                    <a:pt x="0" y="19495"/>
                    <a:pt x="19495" y="0"/>
                    <a:pt x="43543" y="0"/>
                  </a:cubicBezTo>
                  <a:close/>
                </a:path>
              </a:pathLst>
            </a:custGeom>
            <a:solidFill>
              <a:srgbClr val="A94C4C"/>
            </a:solidFill>
            <a:ln w="19050" cap="sq">
              <a:solidFill>
                <a:srgbClr val="A94C4C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19050"/>
              <a:ext cx="4445000" cy="1314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FAILURES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BLOCK + END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>
            <a:off x="11430000" y="4733925"/>
            <a:ext cx="1047750" cy="0"/>
          </a:xfrm>
          <a:prstGeom prst="line">
            <a:avLst/>
          </a:prstGeom>
          <a:ln w="38100" cap="rnd">
            <a:solidFill>
              <a:srgbClr val="A94C4C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3" name="AutoShape 43"/>
          <p:cNvSpPr/>
          <p:nvPr/>
        </p:nvSpPr>
        <p:spPr>
          <a:xfrm flipH="1">
            <a:off x="2000250" y="8153400"/>
            <a:ext cx="14287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4" name="AutoShape 44"/>
          <p:cNvSpPr/>
          <p:nvPr/>
        </p:nvSpPr>
        <p:spPr>
          <a:xfrm flipV="1">
            <a:off x="2000250" y="6048375"/>
            <a:ext cx="0" cy="2105025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5" name="AutoShape 45"/>
          <p:cNvSpPr/>
          <p:nvPr/>
        </p:nvSpPr>
        <p:spPr>
          <a:xfrm>
            <a:off x="2000250" y="6048375"/>
            <a:ext cx="1333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6" name="TextBox 46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3811250" cy="6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CO3  /  DECOMPOSE. REPEAT. RETURN.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7750" y="2047875"/>
            <a:ext cx="619125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WITHDRAWAL  ·  ₹850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72750" y="2047875"/>
            <a:ext cx="619125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52">
                <a:solidFill>
                  <a:srgbClr val="3E8F8B"/>
                </a:solidFill>
                <a:latin typeface="DM Sans Bold"/>
                <a:ea typeface="DM Sans Bold"/>
                <a:cs typeface="DM Sans Bold"/>
                <a:sym typeface="DM Sans Bold"/>
              </a:rPr>
              <a:t>RECURSIVE FUTURE VALUE  ·  5%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000" y="7934325"/>
            <a:ext cx="7429500" cy="4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625" b="1">
                <a:solidFill>
                  <a:srgbClr val="081B2C"/>
                </a:solidFill>
                <a:latin typeface="DM Sans Bold"/>
                <a:ea typeface="DM Sans Bold"/>
                <a:cs typeface="DM Sans Bold"/>
                <a:sym typeface="DM Sans Bold"/>
              </a:rPr>
              <a:t>1×₹500  +  1×₹200  +  1×₹100  +  1×₹50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0" y="7800975"/>
            <a:ext cx="6286500" cy="92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YEAR 0 is the base case: the stopping condition. This is an educational growth estimate—not a full banking interest model.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2809875"/>
            <a:ext cx="7239000" cy="552450"/>
            <a:chOff x="0" y="0"/>
            <a:chExt cx="9652000" cy="736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  INPUT AMOUNT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3590925"/>
            <a:ext cx="7239000" cy="552450"/>
            <a:chOff x="0" y="0"/>
            <a:chExt cx="9652000" cy="736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  VALIDATE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3000" y="4371975"/>
            <a:ext cx="7239000" cy="552450"/>
            <a:chOff x="0" y="0"/>
            <a:chExt cx="9652000" cy="736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 DEDUCT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5153025"/>
            <a:ext cx="7239000" cy="552450"/>
            <a:chOff x="0" y="0"/>
            <a:chExt cx="9652000" cy="736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 RECORD WITHDRAW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3000" y="5934075"/>
            <a:ext cx="7239000" cy="552450"/>
            <a:chOff x="0" y="0"/>
            <a:chExt cx="9652000" cy="736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081B2C"/>
            </a:solidFill>
            <a:ln w="19050" cap="sq">
              <a:solidFill>
                <a:srgbClr val="081B2C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  ARRAY [500, 200, 100, 50]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3000" y="6715125"/>
            <a:ext cx="7239000" cy="552450"/>
            <a:chOff x="0" y="0"/>
            <a:chExt cx="9652000" cy="736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652000" cy="736600"/>
            </a:xfrm>
            <a:custGeom>
              <a:avLst/>
              <a:gdLst/>
              <a:ahLst/>
              <a:cxnLst/>
              <a:rect l="l" t="t" r="r" b="b"/>
              <a:pathLst>
                <a:path w="9652000" h="736600">
                  <a:moveTo>
                    <a:pt x="20053" y="0"/>
                  </a:moveTo>
                  <a:lnTo>
                    <a:pt x="9631948" y="0"/>
                  </a:lnTo>
                  <a:cubicBezTo>
                    <a:pt x="9643022" y="0"/>
                    <a:pt x="9652000" y="8978"/>
                    <a:pt x="9652000" y="20053"/>
                  </a:cubicBezTo>
                  <a:lnTo>
                    <a:pt x="9652000" y="716547"/>
                  </a:lnTo>
                  <a:cubicBezTo>
                    <a:pt x="9652000" y="727622"/>
                    <a:pt x="9643022" y="736600"/>
                    <a:pt x="9631948" y="736600"/>
                  </a:cubicBezTo>
                  <a:lnTo>
                    <a:pt x="20053" y="736600"/>
                  </a:lnTo>
                  <a:cubicBezTo>
                    <a:pt x="8978" y="736600"/>
                    <a:pt x="0" y="727622"/>
                    <a:pt x="0" y="7165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96520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  DISPLAY NOTES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334750" y="2857500"/>
            <a:ext cx="4000500" cy="590550"/>
            <a:chOff x="0" y="0"/>
            <a:chExt cx="5334000" cy="787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3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3335000" y="34480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9" name="Group 29"/>
          <p:cNvGrpSpPr/>
          <p:nvPr/>
        </p:nvGrpSpPr>
        <p:grpSpPr>
          <a:xfrm>
            <a:off x="11334750" y="3810000"/>
            <a:ext cx="4000500" cy="590550"/>
            <a:chOff x="0" y="0"/>
            <a:chExt cx="5334000" cy="787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2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3335000" y="44005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3" name="Group 33"/>
          <p:cNvGrpSpPr/>
          <p:nvPr/>
        </p:nvGrpSpPr>
        <p:grpSpPr>
          <a:xfrm>
            <a:off x="11334750" y="4762500"/>
            <a:ext cx="4000500" cy="590550"/>
            <a:chOff x="0" y="0"/>
            <a:chExt cx="5334000" cy="787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1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13335000" y="53530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7" name="Group 37"/>
          <p:cNvGrpSpPr/>
          <p:nvPr/>
        </p:nvGrpSpPr>
        <p:grpSpPr>
          <a:xfrm>
            <a:off x="11334750" y="5715000"/>
            <a:ext cx="4000500" cy="664312"/>
            <a:chOff x="0" y="0"/>
            <a:chExt cx="5334000" cy="88574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34000" cy="885749"/>
            </a:xfrm>
            <a:custGeom>
              <a:avLst/>
              <a:gdLst/>
              <a:ahLst/>
              <a:cxnLst/>
              <a:rect l="l" t="t" r="r" b="b"/>
              <a:pathLst>
                <a:path w="5334000" h="885749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849463"/>
                  </a:lnTo>
                  <a:cubicBezTo>
                    <a:pt x="5334000" y="859087"/>
                    <a:pt x="5330177" y="868316"/>
                    <a:pt x="5323372" y="875121"/>
                  </a:cubicBezTo>
                  <a:cubicBezTo>
                    <a:pt x="5316567" y="881926"/>
                    <a:pt x="5307338" y="885749"/>
                    <a:pt x="5297714" y="885749"/>
                  </a:cubicBezTo>
                  <a:lnTo>
                    <a:pt x="36286" y="885749"/>
                  </a:lnTo>
                  <a:cubicBezTo>
                    <a:pt x="16246" y="885749"/>
                    <a:pt x="0" y="869503"/>
                    <a:pt x="0" y="849463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19050"/>
              <a:ext cx="5334000" cy="866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 0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BASE CASE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3335000" y="6305550"/>
            <a:ext cx="0" cy="28575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1" name="Group 41"/>
          <p:cNvGrpSpPr/>
          <p:nvPr/>
        </p:nvGrpSpPr>
        <p:grpSpPr>
          <a:xfrm>
            <a:off x="11334750" y="6667500"/>
            <a:ext cx="4000500" cy="590550"/>
            <a:chOff x="0" y="0"/>
            <a:chExt cx="5334000" cy="787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34000" cy="787400"/>
            </a:xfrm>
            <a:custGeom>
              <a:avLst/>
              <a:gdLst/>
              <a:ahLst/>
              <a:cxnLst/>
              <a:rect l="l" t="t" r="r" b="b"/>
              <a:pathLst>
                <a:path w="5334000" h="787400">
                  <a:moveTo>
                    <a:pt x="36286" y="0"/>
                  </a:moveTo>
                  <a:lnTo>
                    <a:pt x="5297714" y="0"/>
                  </a:lnTo>
                  <a:cubicBezTo>
                    <a:pt x="5317754" y="0"/>
                    <a:pt x="5334000" y="16246"/>
                    <a:pt x="5334000" y="36286"/>
                  </a:cubicBezTo>
                  <a:lnTo>
                    <a:pt x="5334000" y="751114"/>
                  </a:lnTo>
                  <a:cubicBezTo>
                    <a:pt x="5334000" y="771154"/>
                    <a:pt x="5317754" y="787400"/>
                    <a:pt x="5297714" y="787400"/>
                  </a:cubicBezTo>
                  <a:lnTo>
                    <a:pt x="36286" y="787400"/>
                  </a:lnTo>
                  <a:cubicBezTo>
                    <a:pt x="16246" y="787400"/>
                    <a:pt x="0" y="771154"/>
                    <a:pt x="0" y="7511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19050"/>
              <a:ext cx="53340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FINAL ESTIMATE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2382500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CO4  /  MODEL RESPONSIBILITY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952750"/>
            <a:ext cx="4381500" cy="1524000"/>
            <a:chOff x="0" y="0"/>
            <a:chExt cx="5842000" cy="2032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42000" cy="2032000"/>
            </a:xfrm>
            <a:custGeom>
              <a:avLst/>
              <a:gdLst/>
              <a:ahLst/>
              <a:cxnLst/>
              <a:rect l="l" t="t" r="r" b="b"/>
              <a:pathLst>
                <a:path w="5842000" h="2032000">
                  <a:moveTo>
                    <a:pt x="0" y="0"/>
                  </a:moveTo>
                  <a:lnTo>
                    <a:pt x="5842000" y="0"/>
                  </a:lnTo>
                  <a:lnTo>
                    <a:pt x="5842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3E8F8B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842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38250" y="3467100"/>
            <a:ext cx="381000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5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ATM APPLICATION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5334000" y="3714750"/>
            <a:ext cx="142875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" name="Group 8"/>
          <p:cNvGrpSpPr/>
          <p:nvPr/>
        </p:nvGrpSpPr>
        <p:grpSpPr>
          <a:xfrm>
            <a:off x="6858000" y="2000250"/>
            <a:ext cx="6477000" cy="4762500"/>
            <a:chOff x="0" y="0"/>
            <a:chExt cx="8636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36000" cy="6350000"/>
            </a:xfrm>
            <a:custGeom>
              <a:avLst/>
              <a:gdLst/>
              <a:ahLst/>
              <a:cxnLst/>
              <a:rect l="l" t="t" r="r" b="b"/>
              <a:pathLst>
                <a:path w="8636000" h="6350000">
                  <a:moveTo>
                    <a:pt x="0" y="0"/>
                  </a:moveTo>
                  <a:lnTo>
                    <a:pt x="8636000" y="0"/>
                  </a:lnTo>
                  <a:lnTo>
                    <a:pt x="8636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636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239000" y="2514600"/>
            <a:ext cx="571500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7"/>
              </a:lnSpc>
            </a:pPr>
            <a:r>
              <a:rPr lang="en-US" sz="25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 OBJECT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15250" y="3314700"/>
            <a:ext cx="4762500" cy="166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Account ID + holder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PIN verification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Balance state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Transaction ArrayList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Deposit + withdrawal methods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335000" y="3714750"/>
            <a:ext cx="523875" cy="0"/>
          </a:xfrm>
          <a:prstGeom prst="line">
            <a:avLst/>
          </a:prstGeom>
          <a:ln w="38100" cap="rnd">
            <a:solidFill>
              <a:srgbClr val="A94C4C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TextBox 14"/>
          <p:cNvSpPr txBox="1"/>
          <p:nvPr/>
        </p:nvSpPr>
        <p:spPr>
          <a:xfrm>
            <a:off x="14097000" y="2352675"/>
            <a:ext cx="2952750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198">
                <a:solidFill>
                  <a:srgbClr val="C7A35A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CONTROLLED FAILURE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97000" y="2990850"/>
            <a:ext cx="304800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Insufficient funds → friendly message</a:t>
            </a:r>
          </a:p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Invalid number → retry</a:t>
            </a:r>
          </a:p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Non-positive amount → reject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97000" y="5791200"/>
            <a:ext cx="3048000" cy="182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081B2C"/>
                </a:solidFill>
                <a:latin typeface="DM Sans"/>
                <a:ea typeface="DM Sans"/>
                <a:cs typeface="DM Sans"/>
                <a:sym typeface="DM Sans"/>
              </a:rPr>
              <a:t>Exceptions protect the experience: problems become explicit, recoverable responses without exposing implementation details.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381125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CO5  /  FROM TEXT TO PERSISTENCE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" y="1638300"/>
            <a:ext cx="14287500" cy="353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C7A35A"/>
                </a:solidFill>
                <a:latin typeface="DM Sans"/>
                <a:ea typeface="DM Sans"/>
                <a:cs typeface="DM Sans"/>
                <a:sym typeface="DM Sans"/>
              </a:rPr>
              <a:t>trim spaces  ·  UPPERCASE welcome  ·  split comma fields  ·  parse colon entries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49000" y="7505700"/>
            <a:ext cx="5715000" cy="9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CE5E0"/>
                </a:solidFill>
                <a:latin typeface="DM Sans"/>
                <a:ea typeface="DM Sans"/>
                <a:cs typeface="DM Sans"/>
                <a:sym typeface="DM Sans"/>
              </a:rPr>
              <a:t>Transaction history lives only during execution. If reading fails, default accounts are created; if writing fails, a clear save error is shown.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04875" y="4095750"/>
            <a:ext cx="2190750" cy="1143000"/>
            <a:chOff x="0" y="0"/>
            <a:chExt cx="2921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C7A35A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accounts.txt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FILE STORAGE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3095625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" name="Group 9"/>
          <p:cNvGrpSpPr/>
          <p:nvPr/>
        </p:nvGrpSpPr>
        <p:grpSpPr>
          <a:xfrm>
            <a:off x="3714750" y="4095750"/>
            <a:ext cx="2190750" cy="1143000"/>
            <a:chOff x="0" y="0"/>
            <a:chExt cx="2921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READ SAFELY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5905500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" name="Group 13"/>
          <p:cNvGrpSpPr/>
          <p:nvPr/>
        </p:nvGrpSpPr>
        <p:grpSpPr>
          <a:xfrm>
            <a:off x="6524625" y="4095750"/>
            <a:ext cx="2190750" cy="1143000"/>
            <a:chOff x="0" y="0"/>
            <a:chExt cx="2921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HASHMAP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SAVED ACCOUNTS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715375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9334500" y="4095750"/>
            <a:ext cx="2190750" cy="1143000"/>
            <a:chOff x="0" y="0"/>
            <a:chExt cx="2921000" cy="152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BANKING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 MEMORY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1525250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12144375" y="4095750"/>
            <a:ext cx="2190750" cy="1143000"/>
            <a:chOff x="0" y="0"/>
            <a:chExt cx="2921000" cy="152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WRITE UPDATED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BALANCES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4335125" y="4667250"/>
            <a:ext cx="47625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14954250" y="4095750"/>
            <a:ext cx="2190750" cy="1143000"/>
            <a:chOff x="0" y="0"/>
            <a:chExt cx="29210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921000" cy="1524000"/>
            </a:xfrm>
            <a:custGeom>
              <a:avLst/>
              <a:gdLst/>
              <a:ahLst/>
              <a:cxnLst/>
              <a:rect l="l" t="t" r="r" b="b"/>
              <a:pathLst>
                <a:path w="2921000" h="1524000">
                  <a:moveTo>
                    <a:pt x="66261" y="0"/>
                  </a:moveTo>
                  <a:lnTo>
                    <a:pt x="2854739" y="0"/>
                  </a:lnTo>
                  <a:cubicBezTo>
                    <a:pt x="2872313" y="0"/>
                    <a:pt x="2889166" y="6981"/>
                    <a:pt x="2901593" y="19407"/>
                  </a:cubicBezTo>
                  <a:cubicBezTo>
                    <a:pt x="2914019" y="31834"/>
                    <a:pt x="2921000" y="48687"/>
                    <a:pt x="2921000" y="66261"/>
                  </a:cubicBezTo>
                  <a:lnTo>
                    <a:pt x="2921000" y="1457739"/>
                  </a:lnTo>
                  <a:cubicBezTo>
                    <a:pt x="2921000" y="1475313"/>
                    <a:pt x="2914019" y="1492166"/>
                    <a:pt x="2901593" y="1504593"/>
                  </a:cubicBezTo>
                  <a:cubicBezTo>
                    <a:pt x="2889166" y="1517019"/>
                    <a:pt x="2872313" y="1524000"/>
                    <a:pt x="2854739" y="1524000"/>
                  </a:cubicBezTo>
                  <a:lnTo>
                    <a:pt x="66261" y="1524000"/>
                  </a:lnTo>
                  <a:cubicBezTo>
                    <a:pt x="48687" y="1524000"/>
                    <a:pt x="31834" y="1517019"/>
                    <a:pt x="19407" y="1504593"/>
                  </a:cubicBezTo>
                  <a:cubicBezTo>
                    <a:pt x="6981" y="1492166"/>
                    <a:pt x="0" y="1475313"/>
                    <a:pt x="0" y="1457739"/>
                  </a:cubicBezTo>
                  <a:lnTo>
                    <a:pt x="0" y="66261"/>
                  </a:lnTo>
                  <a:cubicBezTo>
                    <a:pt x="0" y="48687"/>
                    <a:pt x="6981" y="31834"/>
                    <a:pt x="19407" y="19407"/>
                  </a:cubicBezTo>
                  <a:cubicBezTo>
                    <a:pt x="31834" y="6981"/>
                    <a:pt x="48687" y="0"/>
                    <a:pt x="66261" y="0"/>
                  </a:cubicBezTo>
                  <a:close/>
                </a:path>
              </a:pathLst>
            </a:custGeom>
            <a:solidFill>
              <a:srgbClr val="C7A35A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accounts.txt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UPDATED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428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CO6  /  COLLECTIONS BECOME INSIGHT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7250" y="2238375"/>
            <a:ext cx="4381500" cy="3619500"/>
            <a:chOff x="0" y="0"/>
            <a:chExt cx="5842000" cy="482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42000" cy="4826000"/>
            </a:xfrm>
            <a:custGeom>
              <a:avLst/>
              <a:gdLst/>
              <a:ahLst/>
              <a:cxnLst/>
              <a:rect l="l" t="t" r="r" b="b"/>
              <a:pathLst>
                <a:path w="5842000" h="4826000">
                  <a:moveTo>
                    <a:pt x="0" y="0"/>
                  </a:moveTo>
                  <a:lnTo>
                    <a:pt x="5842000" y="0"/>
                  </a:lnTo>
                  <a:lnTo>
                    <a:pt x="5842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081B2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842000" cy="48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43000" y="2647950"/>
            <a:ext cx="3619500" cy="132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ARRAYLIST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DEPOSIT  ₹1,000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WITHDRAW  ₹500</a:t>
            </a:r>
          </a:p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DF7"/>
                </a:solidFill>
                <a:latin typeface="DM Sans"/>
                <a:ea typeface="DM Sans"/>
                <a:cs typeface="DM Sans"/>
                <a:sym typeface="DM Sans"/>
              </a:rPr>
              <a:t>DEPOSIT  ₹2,000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63250" y="7791450"/>
            <a:ext cx="6191250" cy="9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rPr>
              <a:t>Lambdas and method references keep each transformation concise while connecting functional programming directly to useful banking behavior.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286500" y="2857500"/>
            <a:ext cx="1952625" cy="952500"/>
            <a:chOff x="0" y="0"/>
            <a:chExt cx="2603500" cy="127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TRANSACTION HISTORY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8239125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8524875" y="2857500"/>
            <a:ext cx="1952625" cy="952500"/>
            <a:chOff x="0" y="0"/>
            <a:chExt cx="2603500" cy="127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FILTER DEPOSITS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477500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10763250" y="2857500"/>
            <a:ext cx="1952625" cy="952500"/>
            <a:chOff x="0" y="0"/>
            <a:chExt cx="2603500" cy="127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EXTRACT AMOUNTS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2715875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0" name="Group 20"/>
          <p:cNvGrpSpPr/>
          <p:nvPr/>
        </p:nvGrpSpPr>
        <p:grpSpPr>
          <a:xfrm>
            <a:off x="13001625" y="2857500"/>
            <a:ext cx="1952625" cy="952500"/>
            <a:chOff x="0" y="0"/>
            <a:chExt cx="2603500" cy="127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SUM TOTAL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4954250" y="3333750"/>
            <a:ext cx="190500" cy="0"/>
          </a:xfrm>
          <a:prstGeom prst="line">
            <a:avLst/>
          </a:prstGeom>
          <a:ln w="38100" cap="rnd">
            <a:solidFill>
              <a:srgbClr val="3E8F8B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15240000" y="2857500"/>
            <a:ext cx="1952625" cy="952500"/>
            <a:chOff x="0" y="0"/>
            <a:chExt cx="2603500" cy="127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03500" cy="1270000"/>
            </a:xfrm>
            <a:custGeom>
              <a:avLst/>
              <a:gdLst/>
              <a:ahLst/>
              <a:cxnLst/>
              <a:rect l="l" t="t" r="r" b="b"/>
              <a:pathLst>
                <a:path w="2603500" h="1270000">
                  <a:moveTo>
                    <a:pt x="74341" y="0"/>
                  </a:moveTo>
                  <a:lnTo>
                    <a:pt x="2529159" y="0"/>
                  </a:lnTo>
                  <a:cubicBezTo>
                    <a:pt x="2570216" y="0"/>
                    <a:pt x="2603500" y="33284"/>
                    <a:pt x="2603500" y="74341"/>
                  </a:cubicBezTo>
                  <a:lnTo>
                    <a:pt x="2603500" y="1195659"/>
                  </a:lnTo>
                  <a:cubicBezTo>
                    <a:pt x="2603500" y="1236716"/>
                    <a:pt x="2570216" y="1270000"/>
                    <a:pt x="2529159" y="1270000"/>
                  </a:cubicBezTo>
                  <a:lnTo>
                    <a:pt x="74341" y="1270000"/>
                  </a:lnTo>
                  <a:cubicBezTo>
                    <a:pt x="33284" y="1270000"/>
                    <a:pt x="0" y="1236716"/>
                    <a:pt x="0" y="1195659"/>
                  </a:cubicBezTo>
                  <a:lnTo>
                    <a:pt x="0" y="74341"/>
                  </a:lnTo>
                  <a:cubicBezTo>
                    <a:pt x="0" y="33284"/>
                    <a:pt x="33284" y="0"/>
                    <a:pt x="74341" y="0"/>
                  </a:cubicBezTo>
                  <a:close/>
                </a:path>
              </a:pathLst>
            </a:custGeom>
            <a:solidFill>
              <a:srgbClr val="3E8F8B"/>
            </a:solidFill>
            <a:ln w="19050" cap="sq">
              <a:solidFill>
                <a:srgbClr val="3E8F8B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19050"/>
              <a:ext cx="2603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DISPLAY TOTAL DEPOSITS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5429250"/>
            <a:ext cx="2333625" cy="952500"/>
            <a:chOff x="0" y="0"/>
            <a:chExt cx="3111500" cy="127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ALL ACCOUNTS / HASHMAP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8620125" y="5905500"/>
            <a:ext cx="1905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1" name="Group 31"/>
          <p:cNvGrpSpPr/>
          <p:nvPr/>
        </p:nvGrpSpPr>
        <p:grpSpPr>
          <a:xfrm>
            <a:off x="8953500" y="5429250"/>
            <a:ext cx="2333625" cy="952500"/>
            <a:chOff x="0" y="0"/>
            <a:chExt cx="3111500" cy="1270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SORT BALANCE ↓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1287125" y="5905500"/>
            <a:ext cx="1905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5" name="Group 35"/>
          <p:cNvGrpSpPr/>
          <p:nvPr/>
        </p:nvGrpSpPr>
        <p:grpSpPr>
          <a:xfrm>
            <a:off x="11620500" y="5429250"/>
            <a:ext cx="2333625" cy="952500"/>
            <a:chOff x="0" y="0"/>
            <a:chExt cx="3111500" cy="1270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FFFDF7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COLLECT HOLDER NAMES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13954125" y="5905500"/>
            <a:ext cx="190500" cy="0"/>
          </a:xfrm>
          <a:prstGeom prst="line">
            <a:avLst/>
          </a:prstGeom>
          <a:ln w="38100" cap="rnd">
            <a:solidFill>
              <a:srgbClr val="C7A35A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9" name="Group 39"/>
          <p:cNvGrpSpPr/>
          <p:nvPr/>
        </p:nvGrpSpPr>
        <p:grpSpPr>
          <a:xfrm>
            <a:off x="14287500" y="5429250"/>
            <a:ext cx="2333625" cy="952500"/>
            <a:chOff x="0" y="0"/>
            <a:chExt cx="3111500" cy="1270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111500" cy="1270000"/>
            </a:xfrm>
            <a:custGeom>
              <a:avLst/>
              <a:gdLst/>
              <a:ahLst/>
              <a:cxnLst/>
              <a:rect l="l" t="t" r="r" b="b"/>
              <a:pathLst>
                <a:path w="3111500" h="1270000">
                  <a:moveTo>
                    <a:pt x="62204" y="0"/>
                  </a:moveTo>
                  <a:lnTo>
                    <a:pt x="3049296" y="0"/>
                  </a:lnTo>
                  <a:cubicBezTo>
                    <a:pt x="3065793" y="0"/>
                    <a:pt x="3081615" y="6554"/>
                    <a:pt x="3093281" y="18219"/>
                  </a:cubicBezTo>
                  <a:cubicBezTo>
                    <a:pt x="3104946" y="29885"/>
                    <a:pt x="3111500" y="45707"/>
                    <a:pt x="3111500" y="62204"/>
                  </a:cubicBezTo>
                  <a:lnTo>
                    <a:pt x="3111500" y="1207796"/>
                  </a:lnTo>
                  <a:cubicBezTo>
                    <a:pt x="3111500" y="1224293"/>
                    <a:pt x="3104946" y="1240115"/>
                    <a:pt x="3093281" y="1251781"/>
                  </a:cubicBezTo>
                  <a:cubicBezTo>
                    <a:pt x="3081615" y="1263446"/>
                    <a:pt x="3065793" y="1270000"/>
                    <a:pt x="3049296" y="1270000"/>
                  </a:cubicBezTo>
                  <a:lnTo>
                    <a:pt x="62204" y="1270000"/>
                  </a:lnTo>
                  <a:cubicBezTo>
                    <a:pt x="45707" y="1270000"/>
                    <a:pt x="29885" y="1263446"/>
                    <a:pt x="18219" y="1251781"/>
                  </a:cubicBezTo>
                  <a:cubicBezTo>
                    <a:pt x="6554" y="1240115"/>
                    <a:pt x="0" y="1224293"/>
                    <a:pt x="0" y="1207796"/>
                  </a:cubicBezTo>
                  <a:lnTo>
                    <a:pt x="0" y="62204"/>
                  </a:lnTo>
                  <a:cubicBezTo>
                    <a:pt x="0" y="45707"/>
                    <a:pt x="6554" y="29885"/>
                    <a:pt x="18219" y="18219"/>
                  </a:cubicBezTo>
                  <a:cubicBezTo>
                    <a:pt x="29885" y="6554"/>
                    <a:pt x="45707" y="0"/>
                    <a:pt x="62204" y="0"/>
                  </a:cubicBezTo>
                  <a:close/>
                </a:path>
              </a:pathLst>
            </a:custGeom>
            <a:solidFill>
              <a:srgbClr val="C7A35A"/>
            </a:solidFill>
            <a:ln w="19050" cap="sq">
              <a:solidFill>
                <a:srgbClr val="C7A35A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19050"/>
              <a:ext cx="3111500" cy="1250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081B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RICHEST → POOREST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95325"/>
            <a:ext cx="9048750" cy="125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SIX OUTCOMES.</a:t>
            </a:r>
          </a:p>
          <a:p>
            <a:pPr algn="l">
              <a:lnSpc>
                <a:spcPts val="4882"/>
              </a:lnSpc>
            </a:pPr>
            <a:r>
              <a:rPr lang="en-US" sz="46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WORKING SIMULATION.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62000" y="2571750"/>
            <a:ext cx="8096250" cy="6191250"/>
            <a:chOff x="0" y="0"/>
            <a:chExt cx="10795000" cy="8255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795000" cy="8255000"/>
              <a:chOff x="0" y="0"/>
              <a:chExt cx="10795000" cy="8255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795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795000" h="825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D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0795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81000" y="352425"/>
              <a:ext cx="9144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C7A35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CURRENTLY DEMONSTRATED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1000" y="1050925"/>
              <a:ext cx="9652000" cy="2811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01  Foundations &amp; computational thinking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02  Selection &amp; iteration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03  Methods, recursion &amp; arrays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04  OOP &amp; exception handling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05  Strings &amp; file I/O</a:t>
              </a:r>
            </a:p>
            <a:p>
              <a:pPr algn="l">
                <a:lnSpc>
                  <a:spcPts val="2827"/>
                </a:lnSpc>
              </a:pPr>
              <a:r>
                <a:rPr lang="en-US" sz="2175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06  Collections &amp; streams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06000" y="1190625"/>
            <a:ext cx="6858000" cy="7572375"/>
            <a:chOff x="0" y="0"/>
            <a:chExt cx="9144000" cy="100965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144000" cy="10096500"/>
              <a:chOff x="0" y="0"/>
              <a:chExt cx="9144000" cy="10096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144000" cy="1009650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00965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10096500"/>
                    </a:lnTo>
                    <a:lnTo>
                      <a:pt x="0" y="10096500"/>
                    </a:lnTo>
                    <a:close/>
                  </a:path>
                </a:pathLst>
              </a:custGeom>
              <a:solidFill>
                <a:srgbClr val="DCE5E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144000" cy="1013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08000" y="415925"/>
              <a:ext cx="7620000" cy="35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3E8F8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SCOPE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8000" y="1250950"/>
              <a:ext cx="7874000" cy="3535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Stronger authentication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More user accounts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Enhanced validation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Persistent transaction history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Graphical interface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Database integration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081B2C"/>
                  </a:solidFill>
                  <a:latin typeface="DM Sans"/>
                  <a:ea typeface="DM Sans"/>
                  <a:cs typeface="DM Sans"/>
                  <a:sym typeface="DM Sans"/>
                </a:rPr>
                <a:t>Credential encryption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00075"/>
            <a:ext cx="11430000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1">
                <a:solidFill>
                  <a:srgbClr val="FFFDF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 SCREENSHOTS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1809750"/>
            <a:ext cx="3762375" cy="3618292"/>
            <a:chOff x="0" y="0"/>
            <a:chExt cx="5016500" cy="482438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96271" y="4441461"/>
              <a:ext cx="4381500" cy="382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 dirty="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PIN Entry Screen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91125" y="1809750"/>
            <a:ext cx="3762375" cy="3419137"/>
            <a:chOff x="0" y="0"/>
            <a:chExt cx="5016500" cy="455884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78073" y="4229100"/>
              <a:ext cx="4381500" cy="329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500" dirty="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Successful Authentication Message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29750" y="1781175"/>
            <a:ext cx="3762375" cy="3487595"/>
            <a:chOff x="0" y="-38100"/>
            <a:chExt cx="5016500" cy="465012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50165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7499" y="4229100"/>
              <a:ext cx="4381500" cy="382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 dirty="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Banking Menu Display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68375" y="1781175"/>
            <a:ext cx="3762375" cy="3397691"/>
            <a:chOff x="0" y="-38100"/>
            <a:chExt cx="5016500" cy="4530255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38100"/>
              <a:ext cx="50165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9301" y="4109228"/>
              <a:ext cx="4381500" cy="382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 dirty="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Balance Inquiry Output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5619750"/>
            <a:ext cx="3762375" cy="3781424"/>
            <a:chOff x="0" y="0"/>
            <a:chExt cx="5016500" cy="5041898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17499" y="4691973"/>
              <a:ext cx="4381500" cy="34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5"/>
                </a:lnSpc>
              </a:pPr>
              <a:r>
                <a:rPr lang="en-US" sz="1650" dirty="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Deposit Operation Input / Output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91125" y="5619750"/>
            <a:ext cx="3762375" cy="3727950"/>
            <a:chOff x="0" y="0"/>
            <a:chExt cx="5016500" cy="49706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427787" y="4673767"/>
              <a:ext cx="4381500" cy="296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55"/>
                </a:lnSpc>
              </a:pPr>
              <a:r>
                <a:rPr lang="en-US" sz="1350" dirty="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Withdrawal + Denomination Breakdown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429750" y="5619750"/>
            <a:ext cx="3762375" cy="3735086"/>
            <a:chOff x="0" y="0"/>
            <a:chExt cx="5016500" cy="4980114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5016500" cy="4191000"/>
              <a:chOff x="0" y="0"/>
              <a:chExt cx="5016500" cy="4191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0165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5016500" h="4191000">
                    <a:moveTo>
                      <a:pt x="0" y="0"/>
                    </a:moveTo>
                    <a:lnTo>
                      <a:pt x="5016500" y="0"/>
                    </a:lnTo>
                    <a:lnTo>
                      <a:pt x="50165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26333B"/>
              </a:solidFill>
              <a:ln w="19050" cap="sq">
                <a:solidFill>
                  <a:srgbClr val="3E8F8B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50165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16845" y="4597187"/>
              <a:ext cx="4381500" cy="382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 dirty="0">
                  <a:solidFill>
                    <a:srgbClr val="DCE5E0"/>
                  </a:solidFill>
                  <a:latin typeface="DM Sans"/>
                  <a:ea typeface="DM Sans"/>
                  <a:cs typeface="DM Sans"/>
                  <a:sym typeface="DM Sans"/>
                </a:rPr>
                <a:t>Transaction Statement Display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668375" y="5591175"/>
            <a:ext cx="3762375" cy="3871329"/>
            <a:chOff x="0" y="-38100"/>
            <a:chExt cx="5016500" cy="5161772"/>
          </a:xfrm>
        </p:grpSpPr>
        <p:sp>
          <p:nvSpPr>
            <p:cNvPr id="41" name="TextBox 41"/>
            <p:cNvSpPr txBox="1"/>
            <p:nvPr/>
          </p:nvSpPr>
          <p:spPr>
            <a:xfrm>
              <a:off x="0" y="-38100"/>
              <a:ext cx="50165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1000" y="4740745"/>
              <a:ext cx="4381500" cy="382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40"/>
                </a:lnSpc>
              </a:pPr>
              <a:r>
                <a:rPr lang="en-US" sz="1800" dirty="0">
                  <a:solidFill>
                    <a:srgbClr val="C7A35A"/>
                  </a:solidFill>
                  <a:latin typeface="DM Sans"/>
                  <a:ea typeface="DM Sans"/>
                  <a:cs typeface="DM Sans"/>
                  <a:sym typeface="DM Sans"/>
                </a:rPr>
                <a:t>Error Handling Message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DCE5E0"/>
                </a:solidFill>
                <a:latin typeface="DM Sans Bold"/>
                <a:ea typeface="DM Sans Bold"/>
                <a:cs typeface="DM Sans Bold"/>
                <a:sym typeface="DM Sans Bold"/>
              </a:rPr>
              <a:t>11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22B06F4-2444-1FDE-4EDA-6FCE7C3F0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1174"/>
            <a:ext cx="4410074" cy="317182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B687A8A-E84C-ECFC-5613-2CD83918A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032" y="1856862"/>
            <a:ext cx="4377992" cy="304902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C553D39-F5D7-2FE6-FAEE-474F022F1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874" y="2286388"/>
            <a:ext cx="3198339" cy="208615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1A156E7-B5FE-3E3B-D081-9C53C8358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42463" y="1578624"/>
            <a:ext cx="3941393" cy="296058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EB04EC4-C1D8-6A5A-B4CE-F14F3B11E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248" y="5591174"/>
            <a:ext cx="4083790" cy="188801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486DC7C-9228-80DF-CA28-DA83C1208B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248" y="7031593"/>
            <a:ext cx="4034160" cy="188801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CFC389C-D31E-48F9-0278-A504ED627F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6845" y="5590962"/>
            <a:ext cx="3550934" cy="100592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17CBE0A-B253-6630-9DD4-022C57E8C4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1311" y="6535183"/>
            <a:ext cx="3953652" cy="205984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29A4B97-7B65-65A1-5678-DAEB018627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9220" y="5590962"/>
            <a:ext cx="4377992" cy="318198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D736120-B77B-0DE5-8CFC-7E50E20F24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62655" y="5912936"/>
            <a:ext cx="4377992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647700"/>
            <a:ext cx="12858750" cy="6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EVIDENCE &amp; REPOSITORY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2500" y="2000250"/>
            <a:ext cx="9525000" cy="6477000"/>
            <a:chOff x="0" y="0"/>
            <a:chExt cx="12700000" cy="8636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2700000" cy="8636000"/>
              <a:chOff x="0" y="0"/>
              <a:chExt cx="12700000" cy="8636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2700000" cy="8636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0" h="8636000">
                    <a:moveTo>
                      <a:pt x="0" y="0"/>
                    </a:moveTo>
                    <a:lnTo>
                      <a:pt x="12700000" y="0"/>
                    </a:lnTo>
                    <a:lnTo>
                      <a:pt x="12700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DCE5E0"/>
              </a:solidFill>
              <a:ln w="19050" cap="sq">
                <a:solidFill>
                  <a:srgbClr val="C7A35A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2700000" cy="867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635000" y="2765425"/>
              <a:ext cx="11430000" cy="1550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GEO-TAGGED TEAM PHOTOGRAPH</a:t>
              </a:r>
            </a:p>
            <a:p>
              <a:pPr algn="ctr">
                <a:lnSpc>
                  <a:spcPts val="3120"/>
                </a:lnSpc>
              </a:pPr>
              <a:endParaRPr lang="en-US" sz="2400">
                <a:solidFill>
                  <a:srgbClr val="26333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algn="ctr">
                <a:lnSpc>
                  <a:spcPts val="3120"/>
                </a:lnSpc>
              </a:pPr>
              <a:r>
                <a:rPr lang="en-US" sz="2400">
                  <a:solidFill>
                    <a:srgbClr val="26333B"/>
                  </a:solidFill>
                  <a:latin typeface="DM Sans"/>
                  <a:ea typeface="DM Sans"/>
                  <a:cs typeface="DM Sans"/>
                  <a:sym typeface="DM Sans"/>
                </a:rPr>
                <a:t>PHOTO PLACEHOLDER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334750" y="2619375"/>
            <a:ext cx="5238750" cy="74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Banking Terminal</a:t>
            </a:r>
          </a:p>
          <a:p>
            <a:pPr algn="l">
              <a:lnSpc>
                <a:spcPts val="2992"/>
              </a:lnSpc>
            </a:pPr>
            <a:r>
              <a:rPr lang="en-US" sz="2850" b="1">
                <a:solidFill>
                  <a:srgbClr val="081B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 Project Repository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34750" y="4076700"/>
            <a:ext cx="5238750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3E8F8B"/>
                </a:solidFill>
                <a:latin typeface="DM Sans"/>
                <a:ea typeface="DM Sans"/>
                <a:cs typeface="DM Sans"/>
                <a:sym typeface="DM Sans"/>
              </a:rPr>
              <a:t>[ Insert GitHub Repository URL Here ]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906250" y="5429250"/>
            <a:ext cx="3810000" cy="2381250"/>
            <a:chOff x="0" y="0"/>
            <a:chExt cx="5080000" cy="3175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080000" cy="3175000"/>
              <a:chOff x="0" y="0"/>
              <a:chExt cx="5080000" cy="3175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080000" cy="3175000"/>
              </a:xfrm>
              <a:custGeom>
                <a:avLst/>
                <a:gdLst/>
                <a:ahLst/>
                <a:cxnLst/>
                <a:rect l="l" t="t" r="r" b="b"/>
                <a:pathLst>
                  <a:path w="5080000" h="3175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081B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5080000" cy="321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35000" y="660400"/>
              <a:ext cx="3810000" cy="86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1" spc="225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QR CODE</a:t>
              </a:r>
            </a:p>
            <a:p>
              <a:pPr algn="ctr">
                <a:lnSpc>
                  <a:spcPts val="2625"/>
                </a:lnSpc>
              </a:pPr>
              <a:r>
                <a:rPr lang="en-US" sz="1875" b="1" spc="225">
                  <a:solidFill>
                    <a:srgbClr val="FFFD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PLACEHOLDER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2500" y="9334500"/>
            <a:ext cx="16383000" cy="19050"/>
            <a:chOff x="0" y="0"/>
            <a:chExt cx="21844000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844000" cy="25400"/>
            </a:xfrm>
            <a:custGeom>
              <a:avLst/>
              <a:gdLst/>
              <a:ahLst/>
              <a:cxnLst/>
              <a:rect l="l" t="t" r="r" b="b"/>
              <a:pathLst>
                <a:path w="21844000" h="254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A35A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2500" y="9601200"/>
            <a:ext cx="114300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15 OCTOBER 2026   ·   [ COLLEGE BRANDING 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40250" y="9648825"/>
            <a:ext cx="523875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26333B"/>
                </a:solidFill>
                <a:latin typeface="DM Sans Bold"/>
                <a:ea typeface="DM Sans Bold"/>
                <a:cs typeface="DM Sans Bold"/>
                <a:sym typeface="DM Sans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720</Words>
  <Application>Microsoft Office PowerPoint</Application>
  <PresentationFormat>Custom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DM Sans Bold</vt:lpstr>
      <vt:lpstr>Montserrat Bold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Banking Terminal</dc:title>
  <cp:lastModifiedBy>Mokshith A</cp:lastModifiedBy>
  <cp:revision>3</cp:revision>
  <dcterms:created xsi:type="dcterms:W3CDTF">2006-08-16T00:00:00Z</dcterms:created>
  <dcterms:modified xsi:type="dcterms:W3CDTF">2026-10-16T08:02:10Z</dcterms:modified>
  <dc:identifier>DAHYF0w56KU</dc:identifier>
</cp:coreProperties>
</file>